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1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25060fbb-5027-2e40-6c1d-1b20456b53c8}">
          <p14:sldIdLst>
            <p14:sldId id="256"/>
            <p14:sldId id="257"/>
          </p14:sldIdLst>
        </p14:section>
        <p14:section name="Estratégia" id="{fa51cd0a-a327-f4e8-8aef-f96d2c039ebc}">
          <p14:sldIdLst>
            <p14:sldId id="258"/>
            <p14:sldId id="259"/>
            <p14:sldId id="260"/>
            <p14:sldId id="261"/>
            <p14:sldId id="262"/>
          </p14:sldIdLst>
        </p14:section>
        <p14:section name="Caminho da identidade" id="{5ed3a7b2-4860-85f8-d173-6549063f13d2}">
          <p14:sldIdLst>
            <p14:sldId id="263"/>
            <p14:sldId id="264"/>
          </p14:sldIdLst>
        </p14:section>
        <p14:section name="Logotipo" id="{a038bdb3-45ba-8077-34fc-7c9d72fa48c3}">
          <p14:sldIdLst>
            <p14:sldId id="265"/>
            <p14:sldId id="266"/>
            <p14:sldId id="267"/>
            <p14:sldId id="271"/>
            <p14:sldId id="272"/>
          </p14:sldIdLst>
        </p14:section>
        <p14:section name="Cor, tipografia e produto" id="{5ddc7ae0-79b9-86d5-e26a-3f844bfd3d92}">
          <p14:sldIdLst>
            <p14:sldId id="268"/>
            <p14:sldId id="269"/>
            <p14:sldId id="270"/>
            <p14:sldId id="273"/>
            <p14:sldId id="274"/>
            <p14:sldId id="275"/>
          </p14:sldIdLst>
        </p14:section>
        <p14:section name="Aplicações, voz e próximos passos" id="{f2c54e13-8c69-a7e3-61e5-604eb00d8b21}">
          <p14:sldIdLst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+mn-lt"/>
              </a:rPr>
              <a:t>Notas de 0 a 10 (julgamento de design)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Território B (arco e ponto)</c:v>
                </c:pt>
              </c:strCache>
            </c:strRef>
          </c:tx>
          <c:spPr>
            <a:solidFill>
              <a:srgbClr val="BDBDB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Adequação (20%)</c:v>
                  </c:pt>
                  <c:pt idx="1">
                    <c:v>Distinção (20%)</c:v>
                  </c:pt>
                  <c:pt idx="2">
                    <c:v>Pequenas escalas (15%)</c:v>
                  </c:pt>
                  <c:pt idx="3">
                    <c:v>Memorização (15%)</c:v>
                  </c:pt>
                  <c:pt idx="4">
                    <c:v>Reprodução (15%)</c:v>
                  </c:pt>
                  <c:pt idx="5">
                    <c:v>Expansão (10%)</c:v>
                  </c:pt>
                  <c:pt idx="6">
                    <c:v>Coerência (5%)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</c:v>
                </c:pt>
                <c:pt idx="1">
                  <c:v>7</c:v>
                </c:pt>
                <c:pt idx="2">
                  <c:v>8</c:v>
                </c:pt>
                <c:pt idx="3">
                  <c:v>8</c:v>
                </c:pt>
                <c:pt idx="4">
                  <c:v>8</c:v>
                </c:pt>
                <c:pt idx="5">
                  <c:v>8</c:v>
                </c:pt>
                <c:pt idx="6">
                  <c:v>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Sorriso (escolhido)</c:v>
                </c:pt>
              </c:strCache>
            </c:strRef>
          </c:tx>
          <c:spPr>
            <a:solidFill>
              <a:srgbClr val="FF4B1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Adequação (20%)</c:v>
                  </c:pt>
                  <c:pt idx="1">
                    <c:v>Distinção (20%)</c:v>
                  </c:pt>
                  <c:pt idx="2">
                    <c:v>Pequenas escalas (15%)</c:v>
                  </c:pt>
                  <c:pt idx="3">
                    <c:v>Memorização (15%)</c:v>
                  </c:pt>
                  <c:pt idx="4">
                    <c:v>Reprodução (15%)</c:v>
                  </c:pt>
                  <c:pt idx="5">
                    <c:v>Expansão (10%)</c:v>
                  </c:pt>
                  <c:pt idx="6">
                    <c:v>Coerência (5%)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8</c:v>
                </c:pt>
                <c:pt idx="1">
                  <c:v>5</c:v>
                </c:pt>
                <c:pt idx="2">
                  <c:v>6</c:v>
                </c:pt>
                <c:pt idx="3">
                  <c:v>9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b"/>
        <c:majorGridlines>
          <c:spPr>
            <a:ln w="6350" cap="flat">
              <a:solidFill>
                <a:srgbClr val="DEDE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Esta apresentação reúne a estratégia de marca e a identidade visual desenhadas com o fundador. Tudo é proposta: a assinatura verbal não está aprovada, a marca não está registrada e a diligência jurídica ainda não foi feita. O objetivo de hoje é decidir se seguimos com esta direção.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Roteiro. A primeira parte é de estratégia (por que existimos); a segunda mostra o caminho que levou ao conceito; depois o logotipo e o sistema; no fim, o que ainda não sabemos e o que precisamos decidir juntos.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tese central. Deixar claro que é hipótese: ainda não entrevistamos profissionais. A frase 'ajuda a fazer o negócio funcionar' é de trabalho. O princípio do produto explica por que WhatsApp e voz importam: a interface principal é conversacional; o sistema de gestão fica por trás.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dois lados. Começamos pelo aplicativo do prestador; o contratante é a visão. O marketplace depende de oferta, demanda, confiança e densidade local: condomínios são um laboratório proposto, não uma estratégia comercial fechada. As ambições futuras (escolas, certificação, equipes próprias) são direção, não produto.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três públicos e o que cada um teme. O ponto de tom: respeito ao ofício. Também: confiança visual não é garantia operacional; um selo bonito não prova verificação, habilitação ou seguro.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Posicionamento e limites. A promessa é deliberadamente modesta: organização e clareza, não resultado financeiro. A descrição em uma frase está no rodapé; a de até 80 palavras está no manual.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cinco atributos vêm do briefing. O mais delicado é o segundo: queremos proximidade (sorriso) sem infantilizar, por isso o traço é fino e o preto é a cor-base.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três territórios iniciais (A, B, C) foram desenhados com mesmo conteúdo para comparação justa. Nota importante: a primeira versão do kit foi feita no território B; depois o fundador direcionou para outra linha. O kit B está arquivado na pasta de pesquisa.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caminho foi conduzido pelo fundador: a ideia do sorriso (pingos como olhos e o 'O' como boca) foi dele. Nós testamos largura (180° e 220°), cor, e o que deixaria o rosto 'mais feliz': olhos maiores, sorriso mais grosso no meio, anel superior fino e inclinação. O recorte no meio do sorriso surgiu da observação de que, sem o anel, o sorriso parece duas pessoas se encontrando, o que serve ao marketplace.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conceito em três ideias. Vale mencionar o risco: rosto sorridente é um motivo comum e pode soar infantil; mitigamos com letras finas, preto adulto e a regra de que a interface não usa rostos decorativos. A nossa distinção em relação a marcas existentes ainda não foi pesquisada.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Anatomia. A palavra não é uma fonte: é lettering desenhado com geometria vetorial; só existem as letras T, I, N, D e O. O 'O' da palavra é exatamente o mesmo desenho do símbolo.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Variantes do símbolo. A versão com anel só em tamanhos grandes; sem anel é a principal porque o rosto aberto também sugere duas pessoas se encontrando. A fresta é a solução para uma cor (serigrafia, bordado simples).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paleta. O preto é a marca (adulto, firme), o laranja é a cor forte que o fundador pediu, usado como destaque. Proporção sugerida: cerca de 70% papel/tinta, 25% neutros, até 5% laranja.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Regras de cor. Os 36 pares semânticos (claro e escuro) passam nos limiares de contraste calculados por script. Risco aceito: o âmbar de atenção e o vermelho de erro ficam perto do laranja da marca; por isso o laranja é decorativo e todo estado vem com ícone e rótulo.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Tipografia. Uma família variável para reduzir custo de carregamento. O wordmark é independente da fonte de interface.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Itens para o dia a dia: ícone do app, avatar (testado em recorte circular) e favicon. O favicon.ico ainda não foi gerado (será feito no build do produto).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Regras de aplicação. A medida mais importante: a palavra, por ser fina, precisa de 120 px. Para tamanhos menores, o símbolo faz o trabalho.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vitrine é HTML navegável (applications/preview.html). Todo nome, valor e avaliação é fictício e rotulado. Os componentes seguem os tokens: cores, tipografia e espaçamentos vêm de tokens.css.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Confiança. O perfil mostra quatro informações com significados próprios. No protótipo nenhum selo é concedido; apenas ilustramos os estados.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assistente distingue cinco estados. Na simulação nunca se diz 'mensagem enviada'. Os dados são fictícios. O exemplo da proposta ('há três horários livres na terça') mostra como o consentimento dos clientes é respeitado: só recebem os que autorizaram.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Cartão e uniforme. Contatos são marcadores entre colchetes. Antes de produzir em lote é preciso prova de bordado e de impressão.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para condomínio: o risco aqui é sugerir associação institucional que não existe; por isso o aviso está no próprio cartaz.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Voz e assinatura. O manual traz nove situações com usar/evitar; aqui mostramos três. Nenhuma assinatura foi aprovada; a primeira é só a recomendação provisória.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Seção de honestidade. O ponto mais crítico é o jurídico: há registros exatos do nome em classes de limpeza e utensílios, de outra empresa. Nenhuma alteração de design elimina esse risco; precisa de um advogado de propriedade industrial.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matriz é julgamento de design, não pesquisa de mercado, e o território B recebeu mais iterações (viés de autoria). A escolha do sorriso é do fundador; a matriz só mostra onde precisamos de cuidado.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Decisões e próximos passos. Nenhuma compra, publicação ou registro foi feito. Tudo o que está no kit é provisório até a aprovação de vocês e a análise jurídica.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Estrutura do pacote entregue. O GitHub deve guardar os ativos e regras portáteis; Figma e Canva complementam, mas não são a única fonte.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pic>
        <p:nvPicPr>
          <p:cNvPr id="3" name="Image 0" descr="Tinin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36792"/>
            <a:ext cx="1371600" cy="3474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19456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Tinindo · apresentação para o sócio · rascunho v0.2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pic>
        <p:nvPicPr>
          <p:cNvPr id="3" name="Image 0" descr="Tinin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36792"/>
            <a:ext cx="1371600" cy="3474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19456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B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Tinindo · apresentação para o sócio · rascunho v0.2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DBDB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nin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6766560" cy="1714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34290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Identidade de marca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393192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DB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Conceito, cores, guias e aplicações. Apresentação para o sócio.</a:t>
            </a:r>
            <a:endParaRPr lang="en-US" sz="1800" dirty="0"/>
          </a:p>
        </p:txBody>
      </p:sp>
      <p:sp>
        <p:nvSpPr>
          <p:cNvPr id="5" name="ponto da legenda"/>
          <p:cNvSpPr/>
          <p:nvPr/>
        </p:nvSpPr>
        <p:spPr>
          <a:xfrm>
            <a:off x="731520" y="5029200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05840" y="493776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Assinatura verbal candidata (provisória): “Serviço bem-feito, negócio em ordem.”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6126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DB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Rascunho v0.2 · 11 de outubro de 2026 · tudo aqui é proposta, não identidade registrada</a:t>
            </a:r>
            <a:endParaRPr lang="en-US" sz="1100" dirty="0"/>
          </a:p>
        </p:txBody>
      </p:sp>
      <p:pic>
        <p:nvPicPr>
          <p:cNvPr id="8" name="Image 1" descr="Símbolo Tinind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3716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vamos ver hoje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804672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9525">
            <a:solidFill>
              <a:srgbClr val="DEDE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marcador 1"/>
          <p:cNvSpPr/>
          <p:nvPr/>
        </p:nvSpPr>
        <p:spPr>
          <a:xfrm>
            <a:off x="777240" y="163677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36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5544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a Tinindo existe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577840" y="15544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Tese, os dois lados da plataforma, públicos, posicionamento, personalidade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875520" y="15544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3 a 7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395728"/>
            <a:ext cx="11064240" cy="804672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9525">
            <a:solidFill>
              <a:srgbClr val="DEDE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marcador 2"/>
          <p:cNvSpPr/>
          <p:nvPr/>
        </p:nvSpPr>
        <p:spPr>
          <a:xfrm>
            <a:off x="777240" y="256946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569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248716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chegamos à identidade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577840" y="248716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três territórios e o caminho até o sorriso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875520" y="248716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8 e 9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328416"/>
            <a:ext cx="11064240" cy="804672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9525">
            <a:solidFill>
              <a:srgbClr val="DEDE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marcador 3"/>
          <p:cNvSpPr/>
          <p:nvPr/>
        </p:nvSpPr>
        <p:spPr>
          <a:xfrm>
            <a:off x="777240" y="350215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3419856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logotipo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577840" y="341985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Conceito, anatomia, símbolo, ícone de app, regras de uso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875520" y="341985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10 a 12, 16 e 17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261104"/>
            <a:ext cx="11064240" cy="804672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9525">
            <a:solidFill>
              <a:srgbClr val="DEDE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marcador 4"/>
          <p:cNvSpPr/>
          <p:nvPr/>
        </p:nvSpPr>
        <p:spPr>
          <a:xfrm>
            <a:off x="777240" y="44348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554480" y="435254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Cor, tipografia e produto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5577840" y="435254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Paleta, regras, tipo, vitrine, confiança e assistente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875520" y="4352544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13 a 15 e 18 a 20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5193792"/>
            <a:ext cx="11064240" cy="804672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9525">
            <a:solidFill>
              <a:srgbClr val="DEDE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marcador 5"/>
          <p:cNvSpPr/>
          <p:nvPr/>
        </p:nvSpPr>
        <p:spPr>
          <a:xfrm>
            <a:off x="777240" y="53675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7240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1554480" y="528523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Aplicações, voz e o que falta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5577840" y="528523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Peças, tom, riscos, avaliação, próximos passos e decisões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875520" y="528523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21 a 27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tese: o profissional faz o serviço, a Tinindo ajuda a fazer o negócio funcionar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658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trabalha sozinho acumula execução, atendimento, vendas, agenda, cobrança e compras. Quer realizar o trabalho e atender bem, não aprender cinco sistemas.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DB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IA, dados estruturados e automações podem dar a uma pessoa a capacidade administrativa e comercial que antes exigiria uma equipe pequena.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589520" y="1463040"/>
            <a:ext cx="4023360" cy="2834640"/>
          </a:xfrm>
          <a:prstGeom prst="roundRect">
            <a:avLst>
              <a:gd name="adj" fmla="val 3871"/>
            </a:avLst>
          </a:prstGeom>
          <a:solidFill>
            <a:srgbClr val="1C1C1A"/>
          </a:solidFill>
          <a:ln w="9525">
            <a:solidFill>
              <a:srgbClr val="3A3A37"/>
            </a:solidFill>
            <a:prstDash val="solid"/>
          </a:ln>
        </p:spPr>
      </p:sp>
      <p:sp>
        <p:nvSpPr>
          <p:cNvPr id="6" name="ponto"/>
          <p:cNvSpPr/>
          <p:nvPr/>
        </p:nvSpPr>
        <p:spPr>
          <a:xfrm>
            <a:off x="7863840" y="173736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83880" y="16642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6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Princípio do produto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863840" y="219456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melhor sistema de gestão para um profissional pode ser aquele que ele quase nunca precisa abrir.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892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DB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Hipótese de partida, ainda não validada com profissionais reais. “Ajuda a fazer o negócio funcionar” é uma síntese de trabalho, não um slogan aprovado.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DBDB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Dois lados da mesma plataforma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41148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9525">
            <a:solidFill>
              <a:srgbClr val="DEDE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217920" y="1463040"/>
            <a:ext cx="5394960" cy="41148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9525">
            <a:solidFill>
              <a:srgbClr val="DEDE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PROFISSIONAIS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Organização e crescimento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5176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Agenda, disponibilidade e lista de espera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Clientes, histórico, orçamentos e atendimentos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Contas a receber e visão gerencial simples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Lembretes, recorrência e reativação de clientes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Assistente que consulta dados reais e pede aprovação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16916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QUEM CONTRATA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011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Descoberta e confiança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65176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Encontrar profissionais locais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o que fazem, onde atendem e quando têm horário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Perfis, portfólios, indicações e avaliações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Pedir orçamento ou agendamento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Avaliar e construir histórico de confiança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6692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Ambições futuras (não são funcionalidades): comunidade de indicação, parcerias com escolas, certificação com critérios verificáveis, equipes próprias treinadas. A marca precisa comportá-las sem prometê-las no lançamento.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públicos, três medos, uma resposta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834640"/>
                <a:gridCol w="3383280"/>
                <a:gridCol w="28346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Público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quer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teme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precisa perceber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Profissional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Organização, tempo, demanda e controle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Mais um sistema difícil, custo sem retorno, perda de autonomia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Ajuda prática, respeito e clareza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Contratante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Encontrar alguém confiável e resolver o serviço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Atraso, trabalho ruim, avaliações falsas, contratação confusa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Evidência de competência e processo transparente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Comunidade / condomínio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Indicações organizadas e serviços recorrentes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Spam, conflitos, falsa associação institucional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Utilidade e regras claras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ponto"/>
          <p:cNvSpPr/>
          <p:nvPr/>
        </p:nvSpPr>
        <p:spPr>
          <a:xfrm>
            <a:off x="548640" y="507492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68680" y="49834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marca respeita o conhecimento técnico de quem trabalha. Nunca retrata o profissional como incapaz, atrasado ou alguém que precisa ser salvo pela tecnologia. “IA” não é diferencial: o benefício está no trabalho feito, na organização e na confiança.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Posicionamento, promessa e seus limites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66160" cy="3429000"/>
          </a:xfrm>
          <a:prstGeom prst="roundRect">
            <a:avLst>
              <a:gd name="adj" fmla="val 3200"/>
            </a:avLst>
          </a:prstGeom>
          <a:solidFill>
            <a:schemeClr val="bg1"/>
          </a:solidFill>
          <a:ln w="9525">
            <a:solidFill>
              <a:srgbClr val="DEDE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marcador 1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Posicionamento (proposta)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92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profissionais autônomos de serviços e para quem os contrata. Gestão do trabalho com descoberta e reputação. Negócio organizado e profissional encontrável, sem aprender cinco sistemas.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1463040"/>
            <a:ext cx="3566160" cy="3429000"/>
          </a:xfrm>
          <a:prstGeom prst="roundRect">
            <a:avLst>
              <a:gd name="adj" fmla="val 3200"/>
            </a:avLst>
          </a:prstGeom>
          <a:solidFill>
            <a:schemeClr val="bg1"/>
          </a:solidFill>
          <a:ln w="9525">
            <a:solidFill>
              <a:srgbClr val="DEDE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marcador 2"/>
          <p:cNvSpPr/>
          <p:nvPr/>
        </p:nvSpPr>
        <p:spPr>
          <a:xfrm>
            <a:off x="4526280" y="1691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Promessa (proposta)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78892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tempo no administrativo, mais clareza sobre o negócio, e perfis em que cada informação tem um significado explícito.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566160" cy="3429000"/>
          </a:xfrm>
          <a:prstGeom prst="roundRect">
            <a:avLst>
              <a:gd name="adj" fmla="val 3200"/>
            </a:avLst>
          </a:prstGeom>
          <a:solidFill>
            <a:schemeClr val="bg1"/>
          </a:solidFill>
          <a:ln w="9525">
            <a:solidFill>
              <a:srgbClr val="DEDE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marcador 3"/>
          <p:cNvSpPr/>
          <p:nvPr/>
        </p:nvSpPr>
        <p:spPr>
          <a:xfrm>
            <a:off x="8275320" y="1691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prometemos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78892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cheia, aumento de renda, qualidade garantida do serviço, habilitação profissional ou verificação de antecedentes. Um cadastro não prova nada disso.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1043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22960" y="51663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uma frase: A Tinindo ajuda quem presta serviço a organizar o negócio e a ser encontrado, e ajuda quem contrata a escolher com clareza.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Personalidade: cinco atributos que viram decisões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389120"/>
                <a:gridCol w="3749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Atributo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Decisão visual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Decisão verbal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Competência acessível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Hierarquia clara, preto firme, poucos elementos por tela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Frases curtas, termos do ofício, sem jargão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Proximidade sem infantilizar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Sorriso no símbolo, em linha fina e preto adulto; sem mascote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“Você”, sem gíria forçada nem diminutivo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Tecnologia sofisticada, uso simples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Vidro só em camadas flutuantes; movimento contido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Explica o que o assistente fez e pede aprovação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Trabalho bem-feito e organização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Letras finas e precisas, alinhamento rigoroso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“Em ordem”, “bem-feito”, números com contexto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Orgulho profissional e autonomia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Retratos dignos; o profissional é protagonista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profissional decide; a Tinindo ajuda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Começamos com três territórios, comparados nas mesmas situações</a:t>
            </a:r>
            <a:endParaRPr lang="en-US" sz="2800" dirty="0"/>
          </a:p>
        </p:txBody>
      </p:sp>
      <p:pic>
        <p:nvPicPr>
          <p:cNvPr id="3" name="Image 0" descr="Comparativo dos três territóri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371600"/>
            <a:ext cx="5212080" cy="3868826"/>
          </a:xfrm>
          <a:prstGeom prst="rect">
            <a:avLst/>
          </a:prstGeom>
        </p:spPr>
      </p:pic>
      <p:sp>
        <p:nvSpPr>
          <p:cNvPr id="4" name="ponto"/>
          <p:cNvSpPr/>
          <p:nvPr/>
        </p:nvSpPr>
        <p:spPr>
          <a:xfrm>
            <a:off x="548640" y="1572768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508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Tudo em ordem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892808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feito de blocos de agenda. Claro, mas parece software genérico.</a:t>
            </a:r>
            <a:endParaRPr lang="en-US" sz="1400" dirty="0"/>
          </a:p>
        </p:txBody>
      </p:sp>
      <p:sp>
        <p:nvSpPr>
          <p:cNvPr id="7" name="ponto"/>
          <p:cNvSpPr/>
          <p:nvPr/>
        </p:nvSpPr>
        <p:spPr>
          <a:xfrm>
            <a:off x="548640" y="2761488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" y="2697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Trabalho que merece indicação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081528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Arco com ponto. Maior nota na matriz inicial (7,80).</a:t>
            </a:r>
            <a:endParaRPr lang="en-US" sz="1400" dirty="0"/>
          </a:p>
        </p:txBody>
      </p:sp>
      <p:sp>
        <p:nvSpPr>
          <p:cNvPr id="10" name="ponto"/>
          <p:cNvSpPr/>
          <p:nvPr/>
        </p:nvSpPr>
        <p:spPr>
          <a:xfrm>
            <a:off x="548640" y="3950208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1440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Capricho com inteligência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4270248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Versais finas e nobres. O fundador gostou da letra, não do símbolo.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5166360"/>
            <a:ext cx="5852160" cy="96012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777240" y="5230368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do fundador: gostou da letra fina do C, do pingo destacado nos “I” do A e do B, e pediu cor forte.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chegamos ao sorriso</a:t>
            </a:r>
            <a:endParaRPr lang="en-US" sz="2800" dirty="0"/>
          </a:p>
        </p:txBody>
      </p:sp>
      <p:sp>
        <p:nvSpPr>
          <p:cNvPr id="3" name="marcador 1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4173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Letra do C + pingos do A/B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7830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DB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Versais finas, pingos dos “I” em destaque</a:t>
            </a:r>
            <a:endParaRPr lang="en-US" sz="1200" dirty="0"/>
          </a:p>
        </p:txBody>
      </p:sp>
      <p:sp>
        <p:nvSpPr>
          <p:cNvPr id="7" name="marcador 2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331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 forte e preto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6974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DB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cores testadas; preto como base, laranja como destaque</a:t>
            </a:r>
            <a:endParaRPr lang="en-US" sz="1200" dirty="0"/>
          </a:p>
        </p:txBody>
      </p:sp>
      <p:sp>
        <p:nvSpPr>
          <p:cNvPr id="11" name="marcador 3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246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símbolos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6118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DB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i, ii, T-teto, N, anel + ponto; mistura de “ii” com anel</a:t>
            </a:r>
            <a:endParaRPr lang="en-US" sz="1200" dirty="0"/>
          </a:p>
        </p:txBody>
      </p:sp>
      <p:sp>
        <p:nvSpPr>
          <p:cNvPr id="15" name="marcador 4"/>
          <p:cNvSpPr/>
          <p:nvPr/>
        </p:nvSpPr>
        <p:spPr>
          <a:xfrm>
            <a:off x="548640" y="42062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4160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ideia do sorriso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5262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DB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pingos são olhos; o arco do “O” é a boca</a:t>
            </a:r>
            <a:endParaRPr lang="en-US" sz="1200" dirty="0"/>
          </a:p>
        </p:txBody>
      </p:sp>
      <p:sp>
        <p:nvSpPr>
          <p:cNvPr id="19" name="marcador 5"/>
          <p:cNvSpPr/>
          <p:nvPr/>
        </p:nvSpPr>
        <p:spPr>
          <a:xfrm>
            <a:off x="548640" y="5120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50749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Refino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54406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DB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Sorriso de 220°, cabeça inclinada 10°, corte em dentes de serra</a:t>
            </a:r>
            <a:endParaRPr lang="en-US" sz="1200" dirty="0"/>
          </a:p>
        </p:txBody>
      </p:sp>
      <p:pic>
        <p:nvPicPr>
          <p:cNvPr id="23" name="Image 0" descr="Passos para o sorriso mais feliz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371600"/>
            <a:ext cx="2926080" cy="2546604"/>
          </a:xfrm>
          <a:prstGeom prst="rect">
            <a:avLst/>
          </a:prstGeom>
        </p:spPr>
      </p:pic>
      <p:pic>
        <p:nvPicPr>
          <p:cNvPr id="24" name="Image 1" descr="Recortes no sorris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1371600"/>
            <a:ext cx="2926080" cy="2566721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5669280" y="475488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DB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esquerda: cinco passos para deixar o rosto mais feliz. À direita: quatro recortes no sorriso; o escolhido foi o de dentes de serra em duas cores (Z3).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DBDB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conceito: gente que se encontra, com um sorriso</a:t>
            </a:r>
            <a:endParaRPr lang="en-US" sz="2800" dirty="0"/>
          </a:p>
        </p:txBody>
      </p:sp>
      <p:pic>
        <p:nvPicPr>
          <p:cNvPr id="3" name="Image 0" descr="Os três elementos do concei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64240" cy="351038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029200"/>
            <a:ext cx="7040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dois pingos laranja dos “I” são o profissional e quem contrata. O “O” é o rosto, inclinado, com um sorriso largo. O corte no meio do sorriso lembra duas partes que se encaixam: um marketplace.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863840" y="4983480"/>
            <a:ext cx="3749040" cy="1188720"/>
          </a:xfrm>
          <a:prstGeom prst="roundRect">
            <a:avLst>
              <a:gd name="adj" fmla="val 923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046720" y="502920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Proximidade sem mascote: o sorriso mora no símbolo; a interface não usa rostos decorativos.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Anatomia da palavra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260604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9525">
            <a:solidFill>
              <a:srgbClr val="DEDE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4" name="Image 0" descr="Wordmark Tinin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1691640"/>
            <a:ext cx="8138160" cy="2061972"/>
          </a:xfrm>
          <a:prstGeom prst="rect">
            <a:avLst/>
          </a:prstGeom>
        </p:spPr>
      </p:pic>
      <p:sp>
        <p:nvSpPr>
          <p:cNvPr id="5" name="marcador 1"/>
          <p:cNvSpPr/>
          <p:nvPr/>
        </p:nvSpPr>
        <p:spPr>
          <a:xfrm>
            <a:off x="548640" y="41605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6634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Versais finas e largas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2578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Precisão e acabamento; traço fino que pede ≥ 120 px de largura.</a:t>
            </a:r>
            <a:endParaRPr lang="en-US" sz="1300" dirty="0"/>
          </a:p>
        </p:txBody>
      </p:sp>
      <p:sp>
        <p:nvSpPr>
          <p:cNvPr id="9" name="marcador 2"/>
          <p:cNvSpPr/>
          <p:nvPr/>
        </p:nvSpPr>
        <p:spPr>
          <a:xfrm>
            <a:off x="3337560" y="41605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33756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337560" y="46634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Pingos laranja nos dois “I”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3337560" y="52578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Duas pessoas; são os olhos do rosto do símbolo.</a:t>
            </a:r>
            <a:endParaRPr lang="en-US" sz="1300" dirty="0"/>
          </a:p>
        </p:txBody>
      </p:sp>
      <p:sp>
        <p:nvSpPr>
          <p:cNvPr id="13" name="marcador 3"/>
          <p:cNvSpPr/>
          <p:nvPr/>
        </p:nvSpPr>
        <p:spPr>
          <a:xfrm>
            <a:off x="6126480" y="41605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2648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126480" y="46634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“O” inclinado 10°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126480" y="52578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Mesmo desenho do símbolo. Cabeça levemente inclinada: simpatia.</a:t>
            </a:r>
            <a:endParaRPr lang="en-US" sz="1300" dirty="0"/>
          </a:p>
        </p:txBody>
      </p:sp>
      <p:sp>
        <p:nvSpPr>
          <p:cNvPr id="17" name="marcador 4"/>
          <p:cNvSpPr/>
          <p:nvPr/>
        </p:nvSpPr>
        <p:spPr>
          <a:xfrm>
            <a:off x="8915400" y="41605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91540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8915400" y="46634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Sorriso de 220° cortado ao meio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8915400" y="52578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Dentes de serra, metade laranja, metade preta: duas partes que se encaixam.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símbolo e suas variantes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1031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EDED9"/>
            </a:solidFill>
            <a:prstDash val="solid"/>
          </a:ln>
        </p:spPr>
      </p:sp>
      <p:pic>
        <p:nvPicPr>
          <p:cNvPr id="4" name="Image 0" descr="Principal (sem anel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8308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703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 (sem anel)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788920" y="1463040"/>
            <a:ext cx="2103120" cy="2103120"/>
          </a:xfrm>
          <a:prstGeom prst="roundRect">
            <a:avLst>
              <a:gd name="adj" fmla="val 5217"/>
            </a:avLst>
          </a:prstGeom>
          <a:solidFill>
            <a:srgbClr val="111111"/>
          </a:solidFill>
          <a:ln w="9525">
            <a:solidFill>
              <a:srgbClr val="DEDED9"/>
            </a:solidFill>
            <a:prstDash val="solid"/>
          </a:ln>
        </p:spPr>
      </p:sp>
      <p:pic>
        <p:nvPicPr>
          <p:cNvPr id="7" name="Image 1" descr="Negativ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1783080"/>
            <a:ext cx="1463040" cy="1463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788920" y="3703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Negativo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029200" y="1463040"/>
            <a:ext cx="21031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EDED9"/>
            </a:solidFill>
            <a:prstDash val="solid"/>
          </a:ln>
        </p:spPr>
      </p:sp>
      <p:pic>
        <p:nvPicPr>
          <p:cNvPr id="10" name="Image 2" descr="Com anel (uso grande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783080"/>
            <a:ext cx="1463040" cy="14630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029200" y="3703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anel (uso grande)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7269480" y="1463040"/>
            <a:ext cx="21031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EDED9"/>
            </a:solidFill>
            <a:prstDash val="solid"/>
          </a:ln>
        </p:spPr>
      </p:sp>
      <p:pic>
        <p:nvPicPr>
          <p:cNvPr id="13" name="Image 3" descr="Pequeno óptico (≤ 24 px)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783080"/>
            <a:ext cx="1463040" cy="146304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269480" y="3703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Pequeno óptico (≤ 24 px)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9509760" y="1463040"/>
            <a:ext cx="21031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EDED9"/>
            </a:solidFill>
            <a:prstDash val="solid"/>
          </a:ln>
        </p:spPr>
      </p:sp>
      <p:pic>
        <p:nvPicPr>
          <p:cNvPr id="16" name="Image 4" descr="Uma cor (com fresta)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0" y="1783080"/>
            <a:ext cx="1463040" cy="146304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9509760" y="3703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cor (com fresta)</a:t>
            </a:r>
            <a:endParaRPr lang="en-US" sz="1300" dirty="0"/>
          </a:p>
        </p:txBody>
      </p:sp>
      <p:sp>
        <p:nvSpPr>
          <p:cNvPr id="18" name="Text 11"/>
          <p:cNvSpPr txBox="1"/>
          <p:nvPr/>
        </p:nvSpPr>
        <p:spPr>
          <a:xfrm>
            <a:off x="548640" y="443484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 sem anel: é o que vai no ícone do app, no avatar e em tamanhos pequenos.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variante óptica tem corte reto, olhos e sorriso maiores, para sobreviver a 16 px.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preto ou branco puro não há duas cores para separar as metades: o corte vira uma fresta fina.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Paleta: preto como base, laranja como destaque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4572000" cy="2468880"/>
          </a:xfrm>
          <a:prstGeom prst="roundRect">
            <a:avLst>
              <a:gd name="adj" fmla="val 3704"/>
            </a:avLst>
          </a:prstGeom>
          <a:solidFill>
            <a:srgbClr val="111111"/>
          </a:solidFill>
          <a:ln w="9525">
            <a:solidFill>
              <a:srgbClr val="DEDE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Tinta 950 · base da marca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461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#111111 · RGB 17, 17, 17 · CMYK aprox. 0/0/0/93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303520" y="1417320"/>
            <a:ext cx="3291840" cy="2468880"/>
          </a:xfrm>
          <a:prstGeom prst="roundRect">
            <a:avLst>
              <a:gd name="adj" fmla="val 3704"/>
            </a:avLst>
          </a:prstGeom>
          <a:solidFill>
            <a:srgbClr val="FF4B1F"/>
          </a:solidFill>
          <a:ln w="9525">
            <a:solidFill>
              <a:srgbClr val="DEDE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0" y="1554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Laranja 500 · destaque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0" y="32461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#FF4B1F · RGB 255, 75, 31 · CMYK aprox. 0/71/88/0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778240" y="1417320"/>
            <a:ext cx="2834640" cy="2468880"/>
          </a:xfrm>
          <a:prstGeom prst="roundRect">
            <a:avLst>
              <a:gd name="adj" fmla="val 3704"/>
            </a:avLst>
          </a:prstGeom>
          <a:solidFill>
            <a:srgbClr val="F7F7F5"/>
          </a:solidFill>
          <a:ln w="9525">
            <a:solidFill>
              <a:srgbClr val="DEDE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0" y="1554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Papel 50 · fundo claro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961120" y="3246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#F7F7F5 · RGB 247, 247, 245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2194560" cy="1005840"/>
          </a:xfrm>
          <a:prstGeom prst="roundRect">
            <a:avLst>
              <a:gd name="adj" fmla="val 9091"/>
            </a:avLst>
          </a:prstGeom>
          <a:solidFill>
            <a:srgbClr val="FF6A3D"/>
          </a:solidFill>
          <a:ln w="9525">
            <a:solidFill>
              <a:srgbClr val="DEDE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206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Laranja 400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434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escuro #FF6A3D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26080" y="4069080"/>
            <a:ext cx="2194560" cy="1005840"/>
          </a:xfrm>
          <a:prstGeom prst="roundRect">
            <a:avLst>
              <a:gd name="adj" fmla="val 9091"/>
            </a:avLst>
          </a:prstGeom>
          <a:solidFill>
            <a:srgbClr val="B33008"/>
          </a:solidFill>
          <a:ln w="9525">
            <a:solidFill>
              <a:srgbClr val="DEDE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108960" y="4206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Laranja 700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108960" y="4434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#B33008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303520" y="4069080"/>
            <a:ext cx="2194560" cy="1005840"/>
          </a:xfrm>
          <a:prstGeom prst="roundRect">
            <a:avLst>
              <a:gd name="adj" fmla="val 9091"/>
            </a:avLst>
          </a:prstGeom>
          <a:solidFill>
            <a:srgbClr val="1C1C1A"/>
          </a:solidFill>
          <a:ln w="9525">
            <a:solidFill>
              <a:srgbClr val="DEDED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0" y="4206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Tinta 900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0" y="4434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superfície escura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680960" y="406908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62625D"/>
          </a:solidFill>
          <a:ln w="9525">
            <a:solidFill>
              <a:srgbClr val="DEDED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863840" y="4206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Tinta 500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4434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bordas de controle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784080" y="406908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DEDED9"/>
          </a:solidFill>
          <a:ln w="9525">
            <a:solidFill>
              <a:srgbClr val="DEDED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966960" y="4206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Tinta 200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966960" y="4434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bordas leves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349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Funcionais (sucesso, atenção, erro, informação) ficam separadas da marca e sempre com ícone e texto. CMYK é aproximação; não há equivalência Pantone. Laranja vivo exige prova impressa.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de cor, com números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1C1C1A"/>
          </a:solidFill>
          <a:ln w="9525">
            <a:solidFill>
              <a:srgbClr val="3A3A3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17,6:1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423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DB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Wordmark preto sobre papel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926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CCB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41732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1C1C1A"/>
          </a:solidFill>
          <a:ln w="9525">
            <a:solidFill>
              <a:srgbClr val="3A3A3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1554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5,65:1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423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DB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Preto sobre laranja (fundo laranja com logo preto)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926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CCB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141732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1C1C1A"/>
          </a:solidFill>
          <a:ln w="9525">
            <a:solidFill>
              <a:srgbClr val="3A3A3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75320" y="1554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6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3,12:1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8275320" y="2423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DB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Laranja como texto sobre papel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2926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6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PROIBIDO</a:t>
            </a:r>
            <a:endParaRPr lang="en-US" sz="1200" dirty="0"/>
          </a:p>
        </p:txBody>
      </p:sp>
      <p:sp>
        <p:nvSpPr>
          <p:cNvPr id="15" name="ponto"/>
          <p:cNvSpPr/>
          <p:nvPr/>
        </p:nvSpPr>
        <p:spPr>
          <a:xfrm>
            <a:off x="548640" y="3703320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36118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ação principal da interface é preta. Laranja não é cor de botão.</a:t>
            </a:r>
            <a:endParaRPr lang="en-US" sz="1400" dirty="0"/>
          </a:p>
        </p:txBody>
      </p:sp>
      <p:sp>
        <p:nvSpPr>
          <p:cNvPr id="17" name="ponto"/>
          <p:cNvSpPr/>
          <p:nvPr/>
        </p:nvSpPr>
        <p:spPr>
          <a:xfrm>
            <a:off x="548640" y="4160520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40690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Laranja não é cor de estado (erro vermelho, atenção âmbar): evita confundir marca com alerta.</a:t>
            </a:r>
            <a:endParaRPr lang="en-US" sz="1400" dirty="0"/>
          </a:p>
        </p:txBody>
      </p:sp>
      <p:sp>
        <p:nvSpPr>
          <p:cNvPr id="19" name="ponto"/>
          <p:cNvSpPr/>
          <p:nvPr/>
        </p:nvSpPr>
        <p:spPr>
          <a:xfrm>
            <a:off x="548640" y="4617720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45262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Laranja nunca é cor de texto corrido; texto em destaque usa laranja 700.</a:t>
            </a:r>
            <a:endParaRPr lang="en-US" sz="1400" dirty="0"/>
          </a:p>
        </p:txBody>
      </p:sp>
      <p:sp>
        <p:nvSpPr>
          <p:cNvPr id="21" name="ponto"/>
          <p:cNvSpPr/>
          <p:nvPr/>
        </p:nvSpPr>
        <p:spPr>
          <a:xfrm>
            <a:off x="548640" y="5074920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8680" y="49834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Sorriso em laranja claro ou cinza claro foi testado e rejeitado: 1,8:1 a 2,0:1, some no fundo claro.</a:t>
            </a:r>
            <a:endParaRPr lang="en-US" sz="1400" dirty="0"/>
          </a:p>
        </p:txBody>
      </p:sp>
      <p:sp>
        <p:nvSpPr>
          <p:cNvPr id="23" name="ponto"/>
          <p:cNvSpPr/>
          <p:nvPr/>
        </p:nvSpPr>
        <p:spPr>
          <a:xfrm>
            <a:off x="548640" y="5532120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8680" y="54406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Estado, avaliação e disponibilidade nunca só por cor: sempre ícone e texto.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DBDB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Tipografia: letras próprias no logotipo, Inter na interface</a:t>
            </a:r>
            <a:endParaRPr lang="en-US" sz="2800" dirty="0"/>
          </a:p>
        </p:txBody>
      </p:sp>
      <p:pic>
        <p:nvPicPr>
          <p:cNvPr id="3" name="Image 0" descr="Especimene Inter com acentos e númer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766560" cy="302300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589520" y="1463040"/>
            <a:ext cx="4023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Wordmark é lettering próprio, não uma fonte.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Interface: Inter e Inter Display (licença OFL 1.1, verificada no pacote local).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Pesos: 400, 500, 600; 700 só em títulos grandes.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Rótulos em caixa-alta com espaçamento: ecoam as versais do wordmark.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Números de agenda, preço e indicador em tabulares.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 verificado: ação, João, terça-feira, R$ 1.250,00.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89204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incorporamos fontes proprietárias da Apple. Nesta apresentação usamos Arial por segurança de compatibilidade.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Ícone do app, avatar de WhatsApp e favicon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657600" cy="402336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9525">
            <a:solidFill>
              <a:srgbClr val="DEDE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4" name="Image 0" descr="Ícone do ap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691640"/>
            <a:ext cx="2560320" cy="2560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4434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Ícone do app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7548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Fundo preto; símbolo sem anel, inclinado, em 58% do lado. A plataforma aplica a máscara.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434840" y="1417320"/>
            <a:ext cx="3657600" cy="402336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9525">
            <a:solidFill>
              <a:srgbClr val="DEDE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8" name="Image 1" descr="Avatar clar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691640"/>
            <a:ext cx="1371600" cy="1371600"/>
          </a:xfrm>
          <a:prstGeom prst="ellipse">
            <a:avLst/>
          </a:prstGeom>
        </p:spPr>
      </p:pic>
      <p:pic>
        <p:nvPicPr>
          <p:cNvPr id="9" name="Image 2" descr="Avatar escur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691640"/>
            <a:ext cx="1371600" cy="1371600"/>
          </a:xfrm>
          <a:prstGeom prst="ellipse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617720" y="3291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Avatar de WhatsApp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4617720" y="36576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Recorte circular com margem de segurança: o símbolo ocupa 50% do lado. Versões clara e escura.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8321040" y="1417320"/>
            <a:ext cx="3291840" cy="402336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9525">
            <a:solidFill>
              <a:srgbClr val="DEDE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13" name="Image 3" descr="Favicon 48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1737360"/>
            <a:ext cx="438912" cy="438912"/>
          </a:xfrm>
          <a:prstGeom prst="rect">
            <a:avLst/>
          </a:prstGeom>
        </p:spPr>
      </p:pic>
      <p:pic>
        <p:nvPicPr>
          <p:cNvPr id="14" name="Image 4" descr="Favicon 32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0" y="1737360"/>
            <a:ext cx="292608" cy="292608"/>
          </a:xfrm>
          <a:prstGeom prst="rect">
            <a:avLst/>
          </a:prstGeom>
        </p:spPr>
      </p:pic>
      <p:pic>
        <p:nvPicPr>
          <p:cNvPr id="15" name="Image 5" descr="Favicon 16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8360" y="1737360"/>
            <a:ext cx="146304" cy="146304"/>
          </a:xfrm>
          <a:prstGeom prst="rect">
            <a:avLst/>
          </a:prstGeom>
        </p:spPr>
      </p:pic>
      <p:pic>
        <p:nvPicPr>
          <p:cNvPr id="16" name="Image 6" descr="Variante óptica ampliada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5360" y="2468880"/>
            <a:ext cx="1463040" cy="1463040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8503920" y="4069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Favicon e ícones pequenos</a:t>
            </a:r>
            <a:endParaRPr lang="en-US" sz="1500" dirty="0"/>
          </a:p>
        </p:txBody>
      </p:sp>
      <p:sp>
        <p:nvSpPr>
          <p:cNvPr id="18" name="Text 9"/>
          <p:cNvSpPr txBox="1"/>
          <p:nvPr/>
        </p:nvSpPr>
        <p:spPr>
          <a:xfrm>
            <a:off x="8503920" y="44348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Variante óptica: corte reto, olhos e sorriso maiores. Reconhecível a 16 px; o lado direito troca para branco no tema escuro.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usar: proteção, tamanhos mínimos e o que evitar</a:t>
            </a:r>
            <a:endParaRPr lang="en-US" sz="2800" dirty="0"/>
          </a:p>
        </p:txBody>
      </p:sp>
      <p:pic>
        <p:nvPicPr>
          <p:cNvPr id="3" name="Image 0" descr="Área de proteçã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4572000" cy="222382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657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de proteção: raio do “O” em todos os lados.</a:t>
            </a:r>
            <a:endParaRPr lang="en-US" sz="1400" dirty="0"/>
          </a:p>
        </p:txBody>
      </p:sp>
      <p:pic>
        <p:nvPicPr>
          <p:cNvPr id="5" name="Image 1" descr="Teste de escala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343400"/>
            <a:ext cx="4937760" cy="848563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53492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Mínimos medidos em pixels reais: wordmark 120 px de largura; símbolo 16 px (variante óptica) e 32 px. Abaixo de 120 px, use o símbolo.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603504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evitar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6035040" y="178308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distorcer, girar a palavra, aplicar sombra ou vidro, recolorir, usar sobre fundo movimentado nem abaixo do mínimo. Nunca endireitar o “O” nem inverter as metades do sorriso.</a:t>
            </a:r>
            <a:endParaRPr lang="en-US" sz="1400" dirty="0"/>
          </a:p>
        </p:txBody>
      </p:sp>
      <p:pic>
        <p:nvPicPr>
          <p:cNvPr id="9" name="Image 2" descr="Uso incorret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108960"/>
            <a:ext cx="5577840" cy="214518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produto com a identidade: vitrine de demonstração</a:t>
            </a:r>
            <a:endParaRPr lang="en-US" sz="2800" dirty="0"/>
          </a:p>
        </p:txBody>
      </p:sp>
      <p:pic>
        <p:nvPicPr>
          <p:cNvPr id="3" name="Image 0" descr="Página inici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212080" cy="2761488"/>
          </a:xfrm>
          <a:prstGeom prst="rect">
            <a:avLst/>
          </a:prstGeom>
        </p:spPr>
      </p:pic>
      <p:pic>
        <p:nvPicPr>
          <p:cNvPr id="4" name="Image 1" descr="Agenda do prestado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371600"/>
            <a:ext cx="5627218" cy="429768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4343400"/>
            <a:ext cx="53035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Página inicial com os dois públicos: “Para profissionais” e “Encontre um profissional”.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com estados por ícone e texto: confirmado, aguardando, cancelado, bloqueado e livre.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Ação principal preta; laranja só como destaque.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claro e escuro, responsivo, dados fictícios rotulados.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Reputação com significado explícito</a:t>
            </a:r>
            <a:endParaRPr lang="en-US" sz="2800" dirty="0"/>
          </a:p>
        </p:txBody>
      </p:sp>
      <p:pic>
        <p:nvPicPr>
          <p:cNvPr id="3" name="Image 0" descr="Quatro informações separadas no perf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11064240" cy="125089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3017520"/>
            <a:ext cx="544068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rgbClr val="DEDE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ponto"/>
          <p:cNvSpPr/>
          <p:nvPr/>
        </p:nvSpPr>
        <p:spPr>
          <a:xfrm>
            <a:off x="777240" y="324612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43000" y="3154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coisas diferentes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35661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Identidade verificada, avaliação de cliente, serviço feito pela plataforma e formação não implicam umas às outras.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72200" y="3017520"/>
            <a:ext cx="544068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rgbClr val="DEDE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ponto"/>
          <p:cNvSpPr/>
          <p:nvPr/>
        </p:nvSpPr>
        <p:spPr>
          <a:xfrm>
            <a:off x="6400800" y="324612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766560" y="3154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Patrocinado é patrocinado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766560" y="35661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Anúncio pago traz o rótulo “Patrocinado”: a posição não indica melhor avaliação.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4480560"/>
            <a:ext cx="544068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rgbClr val="DEDE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ponto"/>
          <p:cNvSpPr/>
          <p:nvPr/>
        </p:nvSpPr>
        <p:spPr>
          <a:xfrm>
            <a:off x="777240" y="470916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43000" y="46177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novo é honesto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50292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“Perfil novo · ainda sem avaliações”. Todo profissional começa assim.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172200" y="4480560"/>
            <a:ext cx="544068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rgbClr val="DEDE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ponto"/>
          <p:cNvSpPr/>
          <p:nvPr/>
        </p:nvSpPr>
        <p:spPr>
          <a:xfrm>
            <a:off x="6400800" y="470916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766560" y="46177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selo “Tinindo garante”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766560" y="50292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existiria com política e operação correspondentes.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assistente consulta, recomenda e pede aprovação</a:t>
            </a:r>
            <a:endParaRPr lang="en-US" sz="2800" dirty="0"/>
          </a:p>
        </p:txBody>
      </p:sp>
      <p:pic>
        <p:nvPicPr>
          <p:cNvPr id="3" name="Image 0" descr="Diálogo de aprovação do agen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934456" cy="4389120"/>
          </a:xfrm>
          <a:prstGeom prst="rect">
            <a:avLst/>
          </a:prstGeom>
        </p:spPr>
      </p:pic>
      <p:sp>
        <p:nvSpPr>
          <p:cNvPr id="4" name="marcador 1"/>
          <p:cNvSpPr/>
          <p:nvPr/>
        </p:nvSpPr>
        <p:spPr>
          <a:xfrm>
            <a:off x="6583680" y="1463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223760" y="14173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Informação consultada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223760" y="17830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DB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diz de onde veio o dado</a:t>
            </a:r>
            <a:endParaRPr lang="en-US" sz="1300" dirty="0"/>
          </a:p>
        </p:txBody>
      </p:sp>
      <p:sp>
        <p:nvSpPr>
          <p:cNvPr id="8" name="marcador 2"/>
          <p:cNvSpPr/>
          <p:nvPr/>
        </p:nvSpPr>
        <p:spPr>
          <a:xfrm>
            <a:off x="6583680" y="23317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8368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223760" y="22860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Recomendação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223760" y="26517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DB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executa nada</a:t>
            </a:r>
            <a:endParaRPr lang="en-US" sz="1300" dirty="0"/>
          </a:p>
        </p:txBody>
      </p:sp>
      <p:sp>
        <p:nvSpPr>
          <p:cNvPr id="12" name="marcador 3"/>
          <p:cNvSpPr/>
          <p:nvPr/>
        </p:nvSpPr>
        <p:spPr>
          <a:xfrm>
            <a:off x="6583680" y="32004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8368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223760" y="3154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Ação pendente de aprovação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223760" y="35204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DB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destinatários, texto, desconto, custo estimado e horário</a:t>
            </a:r>
            <a:endParaRPr lang="en-US" sz="1300" dirty="0"/>
          </a:p>
        </p:txBody>
      </p:sp>
      <p:sp>
        <p:nvSpPr>
          <p:cNvPr id="16" name="marcador 4"/>
          <p:cNvSpPr/>
          <p:nvPr/>
        </p:nvSpPr>
        <p:spPr>
          <a:xfrm>
            <a:off x="6583680" y="4069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8368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223760" y="4023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Ação executada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223760" y="43891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DB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protótipo: “simulada”, nada enviado de verdade</a:t>
            </a:r>
            <a:endParaRPr lang="en-US" sz="1300" dirty="0"/>
          </a:p>
        </p:txBody>
      </p:sp>
      <p:sp>
        <p:nvSpPr>
          <p:cNvPr id="20" name="marcador 5"/>
          <p:cNvSpPr/>
          <p:nvPr/>
        </p:nvSpPr>
        <p:spPr>
          <a:xfrm>
            <a:off x="6583680" y="4937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223760" y="48920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Falha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7223760" y="5257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DB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diz o que não aconteceu e oferece alternativa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DBDB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Aplicações: cartão de indicação e uniforme</a:t>
            </a:r>
            <a:endParaRPr lang="en-US" sz="2800" dirty="0"/>
          </a:p>
        </p:txBody>
      </p:sp>
      <p:pic>
        <p:nvPicPr>
          <p:cNvPr id="3" name="Image 0" descr="Cartão de indicação e unifor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64240" cy="41934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Bordado em duas cores exige dois fios; versão de uma cor usa fresta. Mínimos de bordado (30 mm símbolo, 60 mm palavra) são hipótese, ainda não testada com bordadeira real.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Aplicações: cartaz de condomínio e avatar</a:t>
            </a:r>
            <a:endParaRPr lang="en-US" sz="2800" dirty="0"/>
          </a:p>
        </p:txBody>
      </p:sp>
      <p:pic>
        <p:nvPicPr>
          <p:cNvPr id="3" name="Image 0" descr="Cartaz e avat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876288" cy="3931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440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cartaz declara que não é comunicado do condomínio nem aval da administração.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Contatos e QR code são marcadores; nada é real.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avatar foi testado em recorte circular.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Voz: adulta, próxima, sem promessa exagerada</a:t>
            </a:r>
            <a:endParaRPr lang="en-US" sz="2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9494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200400"/>
                <a:gridCol w="21945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Situação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Evitar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Profissional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“Organize o negócio. Continue no seu ofício.”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“Revolucione seu negócio com IA!”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Proposta do agente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“Há três horários livres na terça. Posso preparar uma mensagem. Você revisa antes do envio.”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“Já mandei mensagem para todo mundo.”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Perfil sem avaliações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“Perfil novo · ainda sem avaliações.”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“Contrate por sua conta e risco.”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863840" y="1371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Assinaturas (nenhuma aprovada)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7818120" y="1920240"/>
            <a:ext cx="3794760" cy="594360"/>
          </a:xfrm>
          <a:prstGeom prst="roundRect">
            <a:avLst>
              <a:gd name="adj" fmla="val 1846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ponto"/>
          <p:cNvSpPr/>
          <p:nvPr/>
        </p:nvSpPr>
        <p:spPr>
          <a:xfrm>
            <a:off x="7955280" y="2075688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366760" y="19659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Serviço bem-feito, negócio em ordem.</a:t>
            </a:r>
            <a:endParaRPr lang="en-US" sz="1300" dirty="0"/>
          </a:p>
        </p:txBody>
      </p:sp>
      <p:sp>
        <p:nvSpPr>
          <p:cNvPr id="8" name="marcador 2"/>
          <p:cNvSpPr/>
          <p:nvPr/>
        </p:nvSpPr>
        <p:spPr>
          <a:xfrm>
            <a:off x="7909560" y="2642616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909560" y="2642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366760" y="262432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 trabalho bem-feito. Seu negócio em dia.</a:t>
            </a:r>
            <a:endParaRPr lang="en-US" sz="1300" dirty="0"/>
          </a:p>
        </p:txBody>
      </p:sp>
      <p:sp>
        <p:nvSpPr>
          <p:cNvPr id="11" name="marcador 3"/>
          <p:cNvSpPr/>
          <p:nvPr/>
        </p:nvSpPr>
        <p:spPr>
          <a:xfrm>
            <a:off x="7909560" y="3300984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909560" y="3300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366760" y="3282696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faz o serviço. A Tinindo ajuda no resto.</a:t>
            </a:r>
            <a:endParaRPr lang="en-US" sz="1300" dirty="0"/>
          </a:p>
        </p:txBody>
      </p:sp>
      <p:sp>
        <p:nvSpPr>
          <p:cNvPr id="14" name="marcador 4"/>
          <p:cNvSpPr/>
          <p:nvPr/>
        </p:nvSpPr>
        <p:spPr>
          <a:xfrm>
            <a:off x="7909560" y="3959352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09560" y="39593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366760" y="3941064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Trabalho bem-feito merece ser encontrado.</a:t>
            </a:r>
            <a:endParaRPr lang="en-US" sz="1300" dirty="0"/>
          </a:p>
        </p:txBody>
      </p:sp>
      <p:sp>
        <p:nvSpPr>
          <p:cNvPr id="17" name="marcador 5"/>
          <p:cNvSpPr/>
          <p:nvPr/>
        </p:nvSpPr>
        <p:spPr>
          <a:xfrm>
            <a:off x="7909560" y="4617720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909560" y="4617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8366760" y="459943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Gente que faz bem-feito, gente que se encontra.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49834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Recomendação provisória: a 1ª, que ecoa o sentido de “tinindo”, serve aos dois lados e não promete resultado financeiro. Falta validar com o público.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ainda não sabemos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1C1C1A"/>
          </a:solidFill>
          <a:ln w="9525">
            <a:solidFill>
              <a:srgbClr val="3A3A37"/>
            </a:solidFill>
            <a:prstDash val="solid"/>
          </a:ln>
        </p:spPr>
      </p:sp>
      <p:sp>
        <p:nvSpPr>
          <p:cNvPr id="4" name="marcador 1"/>
          <p:cNvSpPr/>
          <p:nvPr/>
        </p:nvSpPr>
        <p:spPr>
          <a:xfrm>
            <a:off x="777240" y="16002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184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Jurídico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9456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DB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 de 02/10 (relatada, não reverificada): 3M Company tem registros exatos TININDO nas classes 03 e 21. Domínio não libera a marca. Sem parecer.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41732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1C1C1A"/>
          </a:solidFill>
          <a:ln w="9525">
            <a:solidFill>
              <a:srgbClr val="3A3A37"/>
            </a:solidFill>
            <a:prstDash val="solid"/>
          </a:ln>
        </p:spPr>
      </p:sp>
      <p:sp>
        <p:nvSpPr>
          <p:cNvPr id="9" name="marcador 2"/>
          <p:cNvSpPr/>
          <p:nvPr/>
        </p:nvSpPr>
        <p:spPr>
          <a:xfrm>
            <a:off x="4526280" y="16002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074920" y="16184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Pesquisa de mercado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19456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DB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feita (sem acesso à rede). Distinção em relação a concorrentes e a marcas com sorriso é hipótese.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141732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1C1C1A"/>
          </a:solidFill>
          <a:ln w="9525">
            <a:solidFill>
              <a:srgbClr val="3A3A37"/>
            </a:solidFill>
            <a:prstDash val="solid"/>
          </a:ln>
        </p:spPr>
      </p:sp>
      <p:sp>
        <p:nvSpPr>
          <p:cNvPr id="14" name="marcador 3"/>
          <p:cNvSpPr/>
          <p:nvPr/>
        </p:nvSpPr>
        <p:spPr>
          <a:xfrm>
            <a:off x="8275320" y="16002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823960" y="16184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Rosto sorridente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19456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DB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Motivo comum; pode soar infantil. Mitigação: letras finas, preto adulto, sem sorrisos decorativos. Não testado com pessoas.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84048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1C1C1A"/>
          </a:solidFill>
          <a:ln w="9525">
            <a:solidFill>
              <a:srgbClr val="3A3A37"/>
            </a:solidFill>
            <a:prstDash val="solid"/>
          </a:ln>
        </p:spPr>
      </p:sp>
      <p:sp>
        <p:nvSpPr>
          <p:cNvPr id="19" name="marcador 4"/>
          <p:cNvSpPr/>
          <p:nvPr/>
        </p:nvSpPr>
        <p:spPr>
          <a:xfrm>
            <a:off x="777240" y="40233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0416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Traço fino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61772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DB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palavra só funciona a partir de 120 px. Abaixo disso, usar o símbolo.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97680" y="384048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1C1C1A"/>
          </a:solidFill>
          <a:ln w="9525">
            <a:solidFill>
              <a:srgbClr val="3A3A37"/>
            </a:solidFill>
            <a:prstDash val="solid"/>
          </a:ln>
        </p:spPr>
      </p:sp>
      <p:sp>
        <p:nvSpPr>
          <p:cNvPr id="24" name="marcador 5"/>
          <p:cNvSpPr/>
          <p:nvPr/>
        </p:nvSpPr>
        <p:spPr>
          <a:xfrm>
            <a:off x="4526280" y="40233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2628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074920" y="40416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Duas cores e corte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461772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DB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Bordado e impressão precisam de prova; o corte ainda não está unido em contorno único.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046720" y="384048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1C1C1A"/>
          </a:solidFill>
          <a:ln w="9525">
            <a:solidFill>
              <a:srgbClr val="3A3A37"/>
            </a:solidFill>
            <a:prstDash val="solid"/>
          </a:ln>
        </p:spPr>
      </p:sp>
      <p:sp>
        <p:nvSpPr>
          <p:cNvPr id="29" name="marcador 6"/>
          <p:cNvSpPr/>
          <p:nvPr/>
        </p:nvSpPr>
        <p:spPr>
          <a:xfrm>
            <a:off x="8275320" y="40233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7532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823960" y="40416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Acessibilidade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461772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DB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Contraste medido; teclado, leitor de tela e zoom ainda não testados. Sem declaração de conformidade.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DBDB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Avaliação pela mesma matriz: sorriso e território B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71323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955280" y="1417320"/>
            <a:ext cx="3657600" cy="13716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8183880" y="15087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7,80 × 6,85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8183880" y="2194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DBD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 ponderada: B × sorriso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30175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sorriso perde em distinção e reprodução.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Ganha em memorização e emoção.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riscos são tratáveis com regras: mínimos, variante óptica e fresta.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substitui pesquisa nem diligência jurídica.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Decisões e próximos passos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94960" cy="4572000"/>
          </a:xfrm>
          <a:prstGeom prst="roundRect">
            <a:avLst>
              <a:gd name="adj" fmla="val 2400"/>
            </a:avLst>
          </a:prstGeom>
          <a:solidFill>
            <a:schemeClr val="bg1"/>
          </a:solidFill>
          <a:ln w="9525">
            <a:solidFill>
              <a:srgbClr val="DEDE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217920" y="1417320"/>
            <a:ext cx="5394960" cy="4572000"/>
          </a:xfrm>
          <a:prstGeom prst="roundRect">
            <a:avLst>
              <a:gd name="adj" fmla="val 2400"/>
            </a:avLst>
          </a:prstGeom>
          <a:solidFill>
            <a:schemeClr val="bg1"/>
          </a:solidFill>
          <a:ln w="9525">
            <a:solidFill>
              <a:srgbClr val="DEDE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Decisões para fundador e sócio</a:t>
            </a:r>
            <a:endParaRPr lang="en-US" sz="2000" dirty="0"/>
          </a:p>
        </p:txBody>
      </p:sp>
      <p:sp>
        <p:nvSpPr>
          <p:cNvPr id="6" name="marcador 1"/>
          <p:cNvSpPr/>
          <p:nvPr/>
        </p:nvSpPr>
        <p:spPr>
          <a:xfrm>
            <a:off x="822960" y="2194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1488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Aprovar ou ajustar a identidade “sorriso” (preto e laranja)</a:t>
            </a:r>
            <a:endParaRPr lang="en-US" sz="1400" dirty="0"/>
          </a:p>
        </p:txBody>
      </p:sp>
      <p:sp>
        <p:nvSpPr>
          <p:cNvPr id="9" name="marcador 2"/>
          <p:cNvSpPr/>
          <p:nvPr/>
        </p:nvSpPr>
        <p:spPr>
          <a:xfrm>
            <a:off x="822960" y="29260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8803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Autorizar a diligência jurídica do nome (advogado de PI)</a:t>
            </a:r>
            <a:endParaRPr lang="en-US" sz="1400" dirty="0"/>
          </a:p>
        </p:txBody>
      </p:sp>
      <p:sp>
        <p:nvSpPr>
          <p:cNvPr id="12" name="marcador 3"/>
          <p:cNvSpPr/>
          <p:nvPr/>
        </p:nvSpPr>
        <p:spPr>
          <a:xfrm>
            <a:off x="822960" y="36576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6118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Escolher uma assinatura verbal, ou pedir outras</a:t>
            </a:r>
            <a:endParaRPr lang="en-US" sz="1400" dirty="0"/>
          </a:p>
        </p:txBody>
      </p:sp>
      <p:sp>
        <p:nvSpPr>
          <p:cNvPr id="15" name="marcador 4"/>
          <p:cNvSpPr/>
          <p:nvPr/>
        </p:nvSpPr>
        <p:spPr>
          <a:xfrm>
            <a:off x="822960" y="43891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3434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Indicar o repositório da Tinindo para guardar o kit</a:t>
            </a:r>
            <a:endParaRPr lang="en-US" sz="1400" dirty="0"/>
          </a:p>
        </p:txBody>
      </p:sp>
      <p:sp>
        <p:nvSpPr>
          <p:cNvPr id="18" name="marcador 5"/>
          <p:cNvSpPr/>
          <p:nvPr/>
        </p:nvSpPr>
        <p:spPr>
          <a:xfrm>
            <a:off x="822960" y="51206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5120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50749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Autorizar pesquisa de referências com navegação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1600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 propostos</a:t>
            </a:r>
            <a:endParaRPr lang="en-US" sz="2000" dirty="0"/>
          </a:p>
        </p:txBody>
      </p:sp>
      <p:sp>
        <p:nvSpPr>
          <p:cNvPr id="22" name="ponto"/>
          <p:cNvSpPr/>
          <p:nvPr/>
        </p:nvSpPr>
        <p:spPr>
          <a:xfrm>
            <a:off x="6492240" y="2286000"/>
            <a:ext cx="164592" cy="1645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12280" y="21488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Unir o corte do sorriso em contorno único (editor vetorial)</a:t>
            </a:r>
            <a:endParaRPr lang="en-US" sz="1400" dirty="0"/>
          </a:p>
        </p:txBody>
      </p:sp>
      <p:sp>
        <p:nvSpPr>
          <p:cNvPr id="24" name="ponto"/>
          <p:cNvSpPr/>
          <p:nvPr/>
        </p:nvSpPr>
        <p:spPr>
          <a:xfrm>
            <a:off x="6492240" y="2907792"/>
            <a:ext cx="164592" cy="1645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12280" y="277063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Pedir provas de impressão e de bordado</a:t>
            </a:r>
            <a:endParaRPr lang="en-US" sz="1400" dirty="0"/>
          </a:p>
        </p:txBody>
      </p:sp>
      <p:sp>
        <p:nvSpPr>
          <p:cNvPr id="26" name="ponto"/>
          <p:cNvSpPr/>
          <p:nvPr/>
        </p:nvSpPr>
        <p:spPr>
          <a:xfrm>
            <a:off x="6492240" y="3529584"/>
            <a:ext cx="164592" cy="1645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12280" y="339242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Testar o logotipo com 5 a 10 profissionais e contratantes (hipótese de amostra)</a:t>
            </a:r>
            <a:endParaRPr lang="en-US" sz="1400" dirty="0"/>
          </a:p>
        </p:txBody>
      </p:sp>
      <p:sp>
        <p:nvSpPr>
          <p:cNvPr id="28" name="ponto"/>
          <p:cNvSpPr/>
          <p:nvPr/>
        </p:nvSpPr>
        <p:spPr>
          <a:xfrm>
            <a:off x="6492240" y="4151376"/>
            <a:ext cx="164592" cy="1645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12280" y="401421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Pesquisa de referências e de marcas com sorriso</a:t>
            </a:r>
            <a:endParaRPr lang="en-US" sz="1400" dirty="0"/>
          </a:p>
        </p:txBody>
      </p:sp>
      <p:sp>
        <p:nvSpPr>
          <p:cNvPr id="30" name="ponto"/>
          <p:cNvSpPr/>
          <p:nvPr/>
        </p:nvSpPr>
        <p:spPr>
          <a:xfrm>
            <a:off x="6492240" y="4773168"/>
            <a:ext cx="164592" cy="1645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12280" y="463600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Auditoria de acessibilidade com teclado e leitor de tela</a:t>
            </a:r>
            <a:endParaRPr lang="en-US" sz="1400" dirty="0"/>
          </a:p>
        </p:txBody>
      </p:sp>
      <p:sp>
        <p:nvSpPr>
          <p:cNvPr id="32" name="ponto"/>
          <p:cNvSpPr/>
          <p:nvPr/>
        </p:nvSpPr>
        <p:spPr>
          <a:xfrm>
            <a:off x="6492240" y="5394960"/>
            <a:ext cx="164592" cy="1645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12280" y="52578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 o produto no Lovable/GitHub usando os tokens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Anexo: o que está no pacote de arquivos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949440" cy="3840480"/>
          </a:xfrm>
          <a:prstGeom prst="roundRect">
            <a:avLst>
              <a:gd name="adj" fmla="val 2857"/>
            </a:avLst>
          </a:prstGeom>
          <a:solidFill>
            <a:srgbClr val="1C1C1A"/>
          </a:solidFill>
          <a:ln w="9525">
            <a:solidFill>
              <a:srgbClr val="3A3A3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65836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tinindo-brand/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BRAND.md  DECISIONS.md  STATUS.md  LICENSES.md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guidelines/   manual de marca (md, html, pdf)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assets/       logo/  icons/  app-icons/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tokens/       tokens.json  tokens.css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applications/ preview.html  pieces.html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apresentacao/ esta apresentação (pptx)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handoff/      Lovable, Claude Code, Codex,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Canva e Figma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research/     territórios, matriz, referências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463040"/>
            <a:ext cx="3840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Logotipos em SVG vetorial real e PNG.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JSON e CSS com os mesmos nomes e valores.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para humanos e agentes de código em BRAND.md.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Nada foi publicado, comprado ou registrado.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DBDB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nindo">
  <a:themeElements>
    <a:clrScheme name="Tinindo">
      <a:dk1>
        <a:srgbClr val="111111"/>
      </a:dk1>
      <a:lt1>
        <a:srgbClr val="FFFFFF"/>
      </a:lt1>
      <a:dk2>
        <a:srgbClr val="2A2A28"/>
      </a:dk2>
      <a:lt2>
        <a:srgbClr val="F7F7F5"/>
      </a:lt2>
      <a:accent1>
        <a:srgbClr val="FF4B1F"/>
      </a:accent1>
      <a:accent2>
        <a:srgbClr val="111111"/>
      </a:accent2>
      <a:accent3>
        <a:srgbClr val="62625D"/>
      </a:accent3>
      <a:accent4>
        <a:srgbClr val="1D5AA6"/>
      </a:accent4>
      <a:accent5>
        <a:srgbClr val="1F6E3A"/>
      </a:accent5>
      <a:accent6>
        <a:srgbClr val="B33008"/>
      </a:accent6>
      <a:hlink>
        <a:srgbClr val="111111"/>
      </a:hlink>
      <a:folHlink>
        <a:srgbClr val="62625D"/>
      </a:folHlink>
    </a:clrScheme>
    <a:fontScheme name="Tinind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Tinindo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Tinindo — identidade de marca (apresentação para o sócio)</dc:title>
  <dc:subject>PptxGenJS Presentation</dc:subject>
  <dc:creator>Felipe Ferreira Falleiros</dc:creator>
  <cp:lastModifiedBy>Felipe Ferreira Falleiros</cp:lastModifiedBy>
  <cp:revision>1</cp:revision>
  <dcterms:created xsi:type="dcterms:W3CDTF">2026-10-11T13:06:52Z</dcterms:created>
  <dcterms:modified xsi:type="dcterms:W3CDTF">2026-10-11T13:06:52Z</dcterms:modified>
</cp:coreProperties>
</file>